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4C99"/>
                </a:solidFill>
              </a:defRPr>
            </a:pPr>
            <a:r>
              <a:rPr dirty="0"/>
              <a:t>Energy-Efficient Serverless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t>A Comparative Analysis of VM and MicroVM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75926" y="5029200"/>
            <a:ext cx="339214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Ayoub SAMI</a:t>
            </a:r>
            <a:br>
              <a:rPr dirty="0"/>
            </a:br>
            <a:r>
              <a:rPr dirty="0"/>
              <a:t>ENSEEIHT - </a:t>
            </a:r>
            <a:r>
              <a:rPr dirty="0" err="1"/>
              <a:t>Projet</a:t>
            </a:r>
            <a:r>
              <a:rPr dirty="0"/>
              <a:t> Long 2025-2026</a:t>
            </a:r>
            <a:br>
              <a:rPr dirty="0"/>
            </a:br>
            <a:r>
              <a:rPr dirty="0"/>
              <a:t>Supervisor: Prof. </a:t>
            </a:r>
            <a:r>
              <a:rPr lang="fr-FR" dirty="0"/>
              <a:t>Boris </a:t>
            </a:r>
            <a:r>
              <a:rPr lang="fr-FR" dirty="0" err="1"/>
              <a:t>Teabe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/>
              <a:t>Experimental Infrastructure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Cluster 1 (Baseline)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Cluster 2 (MicroVM)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Docker + runc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Kata Containers + QEMU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Kubernetes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v1.28.2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v1.28.2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E5-2680 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Intel Xeon E5-2680 v4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Memory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64GB DDR4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64GB DDR4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 Gbps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 Gbps Ethernet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FaaS Platform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OpenWhisk 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OpenWhisk 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rPr dirty="0"/>
              <a:t>Benchmark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551" y="1436299"/>
            <a:ext cx="8350898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fr-FR" dirty="0"/>
              <a:t>Network-intensive </a:t>
            </a:r>
            <a:r>
              <a:rPr lang="fr-FR" dirty="0" err="1"/>
              <a:t>workloads</a:t>
            </a:r>
            <a:r>
              <a:rPr lang="fr-FR" dirty="0"/>
              <a:t> </a:t>
            </a:r>
            <a:r>
              <a:rPr lang="fr-FR" dirty="0" err="1"/>
              <a:t>across</a:t>
            </a:r>
            <a:r>
              <a:rPr lang="fr-FR" dirty="0"/>
              <a:t> 3 </a:t>
            </a:r>
            <a:r>
              <a:rPr lang="fr-FR" dirty="0" err="1"/>
              <a:t>languages</a:t>
            </a:r>
            <a:r>
              <a:rPr lang="fr-FR" dirty="0"/>
              <a:t>: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  • Python 3.9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  • JavaScript (Node.js 14)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  • Java 8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4 network </a:t>
            </a:r>
            <a:r>
              <a:rPr lang="fr-FR" dirty="0" err="1"/>
              <a:t>operations</a:t>
            </a:r>
            <a:r>
              <a:rPr lang="fr-FR" dirty="0"/>
              <a:t> per test: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  • TCP </a:t>
            </a:r>
            <a:r>
              <a:rPr lang="fr-FR" dirty="0" err="1"/>
              <a:t>Latency</a:t>
            </a:r>
            <a:r>
              <a:rPr lang="fr-FR" dirty="0"/>
              <a:t> (8.8.8.8:53)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  • HTTP </a:t>
            </a:r>
            <a:r>
              <a:rPr lang="fr-FR" dirty="0" err="1"/>
              <a:t>Latency</a:t>
            </a:r>
            <a:r>
              <a:rPr lang="fr-FR" dirty="0"/>
              <a:t> (httpbin.org)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  • DNS </a:t>
            </a:r>
            <a:r>
              <a:rPr lang="fr-FR" dirty="0" err="1"/>
              <a:t>Resolution</a:t>
            </a:r>
            <a:r>
              <a:rPr lang="fr-FR" dirty="0"/>
              <a:t> (google.com)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  • </a:t>
            </a:r>
            <a:r>
              <a:rPr lang="fr-FR" dirty="0" err="1"/>
              <a:t>Bandwidth</a:t>
            </a:r>
            <a:r>
              <a:rPr lang="fr-FR" dirty="0"/>
              <a:t> (42.66 MB download)</a:t>
            </a:r>
          </a:p>
          <a:p>
            <a:pPr>
              <a:spcAft>
                <a:spcPts val="1000"/>
              </a:spcAft>
              <a:defRPr sz="2000"/>
            </a:pPr>
            <a:r>
              <a:rPr lang="fr-FR" dirty="0"/>
              <a:t>Test matrix: 2 clusters × 3 </a:t>
            </a:r>
            <a:r>
              <a:rPr lang="fr-FR" dirty="0" err="1"/>
              <a:t>languages</a:t>
            </a:r>
            <a:r>
              <a:rPr lang="fr-FR" dirty="0"/>
              <a:t> × 2 start types × 5 </a:t>
            </a:r>
            <a:r>
              <a:rPr lang="fr-FR" dirty="0" err="1"/>
              <a:t>iterations</a:t>
            </a:r>
            <a:r>
              <a:rPr lang="fr-FR" dirty="0"/>
              <a:t> = 60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Performance Results: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C1 (VM)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C2 (µVM)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41.84s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47.17s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+12.7%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Hot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26.37s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25.65s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JavaScript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41.66s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45.43s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+9.0%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JavaScript Hot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24.72s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25.59s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+3.5%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45.17s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44.73s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 Hot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23.57s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23.85s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38.89s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40.38s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+3.8%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Performance: Key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994C"/>
                </a:solidFill>
              </a:defRPr>
            </a:pPr>
            <a:r>
              <a:t>MicroVM Overhead: +3.8%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✓ Negligible performance impact for hardware-level isolation</a:t>
            </a:r>
          </a:p>
          <a:p>
            <a:pPr>
              <a:spcAft>
                <a:spcPts val="1000"/>
              </a:spcAft>
              <a:defRPr sz="2000"/>
            </a:pPr>
            <a:r>
              <a:t>✓ Python hot starts actually FASTER on MicroVM (-2.7%)</a:t>
            </a:r>
          </a:p>
          <a:p>
            <a:pPr>
              <a:spcAft>
                <a:spcPts val="1000"/>
              </a:spcAft>
              <a:defRPr sz="2000"/>
            </a:pPr>
            <a:r>
              <a:t>✓ Java shows minimal difference (-1.0% cold, +1.2% hot)</a:t>
            </a:r>
          </a:p>
          <a:p>
            <a:pPr>
              <a:spcAft>
                <a:spcPts val="1000"/>
              </a:spcAft>
              <a:defRPr sz="2000"/>
            </a:pPr>
            <a:r>
              <a:t>✓ Language runtime initialization dominates (1.6-1.9× overhead)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Cold vs Warm Start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828800"/>
          <a:ext cx="6949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Cluster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Cold (s)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Hot (s)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41.84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47.17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25.65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41.66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JavaScript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45.43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25.59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45.17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1.9×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44.73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23.85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1.9×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Energy Consumption: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C99"/>
                </a:solidFill>
              </a:defRPr>
            </a:pPr>
            <a:r>
              <a:t>C1: 2812.4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657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9900"/>
                </a:solidFill>
              </a:defRPr>
            </a:pPr>
            <a:r>
              <a:t>C2: 2938.0 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MicroVM Overhead: +125.6 J (+4.47%)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Baseline idle consumption: 2800 J</a:t>
            </a:r>
          </a:p>
          <a:p>
            <a:pPr>
              <a:spcAft>
                <a:spcPts val="1000"/>
              </a:spcAft>
              <a:defRPr sz="2000"/>
            </a:pPr>
            <a:r>
              <a:t>C1 overhead: +12.4 J (network I/O dominates)</a:t>
            </a:r>
          </a:p>
          <a:p>
            <a:pPr>
              <a:spcAft>
                <a:spcPts val="1000"/>
              </a:spcAft>
              <a:defRPr sz="2000"/>
            </a:pPr>
            <a:r>
              <a:t>C2 overhead: +138.0 J (virtualization + network)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Energy: The Surprising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994C"/>
                </a:solidFill>
              </a:defRPr>
            </a:pPr>
            <a:r>
              <a:t>MicroVMs are 5× MORE EFFICIENT</a:t>
            </a:r>
            <a:br/>
            <a:r>
              <a:t>for Warm Starts!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41148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Cold → Warm Savings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Cluster 1 (Container)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0.5% (15.7 J)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Cluster 2 (MicroVM)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2.6% (77.3 J)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MicroVM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5× better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Energy Consumption by Language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C1 (J)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C2 (J)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Savings (%)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2812.8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2972.6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Python Warm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2800.4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2897.8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JavaScript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2973.0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JavaScript Warm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2805.4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2897.2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 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2833.6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2984.2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Java Warm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2807.8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2903.0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Network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01168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C1 (VM)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C2 (µVM)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Overhead</a:t>
                      </a:r>
                    </a:p>
                  </a:txBody>
                  <a:tcPr>
                    <a:solidFill>
                      <a:srgbClr val="004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TCP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7.07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8.09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+1.02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HTTP Latency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266.30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255.51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-10.79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DNS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7.77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8.26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+0.49 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Bandwidth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46.62 Mbps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44.91 Mbps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dirty="0"/>
                        <a:t>-1.71 Mbps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✓ TCP overhead: +1ms (negligible for 200-300ms HTTP requests)</a:t>
            </a:r>
          </a:p>
          <a:p>
            <a:pPr>
              <a:spcAft>
                <a:spcPts val="1000"/>
              </a:spcAft>
              <a:defRPr sz="2000"/>
            </a:pPr>
            <a:r>
              <a:t>✓ HTTP performance: EQUIVALENT (variability dominates)</a:t>
            </a:r>
          </a:p>
          <a:p>
            <a:pPr>
              <a:spcAft>
                <a:spcPts val="1000"/>
              </a:spcAft>
              <a:defRPr sz="2000"/>
            </a:pPr>
            <a:r>
              <a:t>✓ Bandwidth: -3.7% (&lt; 300ms difference for 40MB transfer)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MicroVM Performance Overhead: Only +3.8%</a:t>
            </a:r>
          </a:p>
          <a:p>
            <a:pPr>
              <a:spcAft>
                <a:spcPts val="1000"/>
              </a:spcAft>
              <a:defRPr sz="2000"/>
            </a:pPr>
            <a:r>
              <a:t>   → Minimal cost for hardware-level isolation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2. Energy Paradox: MicroVMs 5× more efficient for warm starts</a:t>
            </a:r>
          </a:p>
          <a:p>
            <a:pPr>
              <a:spcAft>
                <a:spcPts val="1000"/>
              </a:spcAft>
              <a:defRPr sz="2000"/>
            </a:pPr>
            <a:r>
              <a:t>   → Better for production workloads with container reuse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3. Network Performance: Equivalent between platforms</a:t>
            </a:r>
          </a:p>
          <a:p>
            <a:pPr>
              <a:spcAft>
                <a:spcPts val="1000"/>
              </a:spcAft>
              <a:defRPr sz="2000"/>
            </a:pPr>
            <a:r>
              <a:t>   → Virtualization doesn't compromise I/O capabilities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4. Cold Start Dominates: Language choice &gt; isolation method</a:t>
            </a:r>
          </a:p>
          <a:p>
            <a:pPr>
              <a:spcAft>
                <a:spcPts val="1000"/>
              </a:spcAft>
              <a:defRPr sz="2000"/>
            </a:pPr>
            <a:r>
              <a:t>   → 1.6-1.9× overhead from runtime initialization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Production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994C"/>
                </a:solidFill>
              </a:defRPr>
            </a:pPr>
            <a:r>
              <a:t>Use MicroVMs for:</a:t>
            </a:r>
          </a:p>
          <a:p>
            <a:pPr>
              <a:defRPr sz="1400"/>
            </a:pPr>
            <a:r>
              <a:t>• Multi-tenant platforms</a:t>
            </a:r>
            <a:br/>
            <a:r>
              <a:t>• Untrusted code</a:t>
            </a:r>
            <a:br/>
            <a:r>
              <a:t>• Compliance workloads</a:t>
            </a:r>
            <a:br/>
            <a:r>
              <a:t>• High-frequency functions</a:t>
            </a:r>
            <a:br/>
            <a:r>
              <a:t>• Security-critical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4C99"/>
                </a:solidFill>
              </a:defRPr>
            </a:pPr>
            <a:r>
              <a:t>Use Containers for:</a:t>
            </a:r>
          </a:p>
          <a:p>
            <a:pPr>
              <a:defRPr sz="1400"/>
            </a:pPr>
            <a:r>
              <a:t>• Single-tenant environments</a:t>
            </a:r>
            <a:br/>
            <a:r>
              <a:t>• Trusted internal code</a:t>
            </a:r>
            <a:br/>
            <a:r>
              <a:t>• Resource-constrained nodes</a:t>
            </a:r>
            <a:br/>
            <a:r>
              <a:t>• Ultra-low latency (&lt;1ms)</a:t>
            </a:r>
            <a:br/>
            <a:r>
              <a:t>• Development/testing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Recommendation: Hybrid approach</a:t>
            </a:r>
            <a:br/>
            <a:r>
              <a:t>MicroVMs for security-sensitive + Containers for internal workloads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Optimization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Maximize Warm Starts (5× energy advantage for MicroVMs):</a:t>
            </a:r>
          </a:p>
          <a:p>
            <a:pPr>
              <a:spcAft>
                <a:spcPts val="1000"/>
              </a:spcAft>
              <a:defRPr sz="2000"/>
            </a:pPr>
            <a:r>
              <a:t>  • Aggressive keep-alive policies (10+ min timeout)</a:t>
            </a:r>
          </a:p>
          <a:p>
            <a:pPr>
              <a:spcAft>
                <a:spcPts val="1000"/>
              </a:spcAft>
              <a:defRPr sz="2000"/>
            </a:pPr>
            <a:r>
              <a:t>  • Provisioned concurrency for latency-sensitive functions</a:t>
            </a:r>
          </a:p>
          <a:p>
            <a:pPr>
              <a:spcAft>
                <a:spcPts val="1000"/>
              </a:spcAft>
              <a:defRPr sz="2000"/>
            </a:pPr>
            <a:r>
              <a:t>  • Predictive pre-warming based on usage patterns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Language Selection:</a:t>
            </a:r>
          </a:p>
          <a:p>
            <a:pPr>
              <a:spcAft>
                <a:spcPts val="1000"/>
              </a:spcAft>
              <a:defRPr sz="2000"/>
            </a:pPr>
            <a:r>
              <a:t>  • Java: Best for long-running, frequent invocations</a:t>
            </a:r>
          </a:p>
          <a:p>
            <a:pPr>
              <a:spcAft>
                <a:spcPts val="1000"/>
              </a:spcAft>
              <a:defRPr sz="2000"/>
            </a:pPr>
            <a:r>
              <a:t>  • JavaScript: Balanced performance, good general choice</a:t>
            </a:r>
          </a:p>
          <a:p>
            <a:pPr>
              <a:spcAft>
                <a:spcPts val="1000"/>
              </a:spcAft>
              <a:defRPr sz="2000"/>
            </a:pPr>
            <a:r>
              <a:t>  • Python: Best for infrequent, short-lived functions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At 99% warm starts: MicroVM overhead drops to only +3.4%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Research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Comprehensive Benchmarking Framework</a:t>
            </a:r>
          </a:p>
          <a:p>
            <a:pPr>
              <a:spcAft>
                <a:spcPts val="1000"/>
              </a:spcAft>
              <a:defRPr sz="2000"/>
            </a:pPr>
            <a:r>
              <a:t>   → Systematic evaluation across performance, energy, network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2. First Energy Comparison of Container vs MicroVM</a:t>
            </a:r>
          </a:p>
          <a:p>
            <a:pPr>
              <a:spcAft>
                <a:spcPts val="1000"/>
              </a:spcAft>
              <a:defRPr sz="2000"/>
            </a:pPr>
            <a:r>
              <a:t>   → Real-time RAPL monitoring with 30-second granularity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3. Multi-Language Cross-Analysis</a:t>
            </a:r>
          </a:p>
          <a:p>
            <a:pPr>
              <a:spcAft>
                <a:spcPts val="1000"/>
              </a:spcAft>
              <a:defRPr sz="2000"/>
            </a:pPr>
            <a:r>
              <a:t>   → Python, JavaScript, Java across isolation mechanisms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4. Evidence-Based Recommendations</a:t>
            </a:r>
          </a:p>
          <a:p>
            <a:pPr>
              <a:spcAft>
                <a:spcPts val="1000"/>
              </a:spcAft>
              <a:defRPr sz="2000"/>
            </a:pPr>
            <a:r>
              <a:t>   → Practical guidelines for FaaS architects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5. Open-Source Implementation</a:t>
            </a:r>
          </a:p>
          <a:p>
            <a:pPr>
              <a:spcAft>
                <a:spcPts val="1000"/>
              </a:spcAft>
              <a:defRPr sz="2000"/>
            </a:pPr>
            <a:r>
              <a:t>   → Reproducible benchmarks for community 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C0000"/>
                </a:solidFill>
              </a:defRPr>
            </a:pPr>
            <a:r>
              <a:t>Limitations:</a:t>
            </a:r>
          </a:p>
          <a:p>
            <a:pPr>
              <a:defRPr sz="1400"/>
            </a:pPr>
            <a:r>
              <a:t>• Small sample size (n=5)</a:t>
            </a:r>
            <a:br/>
            <a:r>
              <a:t>• Single-node clusters</a:t>
            </a:r>
            <a:br/>
            <a:r>
              <a:t>• Network workloads only</a:t>
            </a:r>
            <a:br/>
            <a:r>
              <a:t>• Platform-specific (OpenWhisk)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94C"/>
                </a:solidFill>
              </a:defRPr>
            </a:pPr>
            <a:r>
              <a:rPr dirty="0"/>
              <a:t>Future Work:</a:t>
            </a:r>
          </a:p>
          <a:p>
            <a:pPr>
              <a:defRPr sz="1400"/>
            </a:pPr>
            <a:r>
              <a:rPr dirty="0"/>
              <a:t>• Larger scale (n≥30, multi-node)</a:t>
            </a:r>
            <a:br>
              <a:rPr dirty="0"/>
            </a:br>
            <a:r>
              <a:rPr dirty="0"/>
              <a:t>• CPU/memory workloads</a:t>
            </a:r>
            <a:br>
              <a:rPr dirty="0"/>
            </a:br>
            <a:r>
              <a:rPr dirty="0"/>
              <a:t>• Firecracker, </a:t>
            </a:r>
            <a:r>
              <a:rPr dirty="0" err="1"/>
              <a:t>gVisor</a:t>
            </a:r>
            <a:r>
              <a:rPr dirty="0"/>
              <a:t> comparison</a:t>
            </a:r>
            <a:br>
              <a:rPr dirty="0"/>
            </a:br>
            <a:r>
              <a:rPr dirty="0"/>
              <a:t>• ML-based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Despite limitations, findings provide strong evidence for</a:t>
            </a:r>
            <a:br/>
            <a:r>
              <a:t>MicroVM viability in production serverless platforms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4C9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4C99"/>
                </a:solidFill>
              </a:defRPr>
            </a:pPr>
            <a:r>
              <a:t>MicroVMs offer hardware-level security</a:t>
            </a:r>
            <a:br/>
            <a:r>
              <a:t>at an acceptable efficiency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5111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Trade-off is compelling: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  • 4-5% efficiency investment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  • Hardware-enforced isolation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  • Regulatory compliance capability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  • Superior warm start efficiency (5×)</a:t>
            </a:r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For multi-tenant </a:t>
            </a:r>
            <a:r>
              <a:rPr dirty="0" err="1"/>
              <a:t>FaaS</a:t>
            </a:r>
            <a:r>
              <a:rPr dirty="0"/>
              <a:t> platforms executing untrusted code,</a:t>
            </a:r>
          </a:p>
          <a:p>
            <a:pPr>
              <a:spcAft>
                <a:spcPts val="1000"/>
              </a:spcAft>
              <a:defRPr sz="2000"/>
            </a:pPr>
            <a:r>
              <a:rPr dirty="0" err="1"/>
              <a:t>MicroVMs</a:t>
            </a:r>
            <a:r>
              <a:rPr dirty="0"/>
              <a:t> represent a production-ready, secure solution.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4C99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Ayoub SAMI - ayoub.sami@etu.inp-n7.fr</a:t>
            </a:r>
            <a:br/>
            <a:r>
              <a:t>ENSEEIHT - Projet Long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1005</Words>
  <Application>Microsoft Office PowerPoint</Application>
  <PresentationFormat>Affichage à l'écran (4:3)</PresentationFormat>
  <Paragraphs>244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Experimental Infrastructure</vt:lpstr>
      <vt:lpstr>Benchmark Design</vt:lpstr>
      <vt:lpstr>Performance Results: Summary</vt:lpstr>
      <vt:lpstr>Performance: Key Finding</vt:lpstr>
      <vt:lpstr>Cold vs Warm Start Comparison</vt:lpstr>
      <vt:lpstr>Energy Consumption: Overview</vt:lpstr>
      <vt:lpstr>Energy: The Surprising Discovery</vt:lpstr>
      <vt:lpstr>Energy Consumption by Language</vt:lpstr>
      <vt:lpstr>Network Performance</vt:lpstr>
      <vt:lpstr>Key Findings</vt:lpstr>
      <vt:lpstr>Production Implications</vt:lpstr>
      <vt:lpstr>Optimization Strategies</vt:lpstr>
      <vt:lpstr>Research Contributions</vt:lpstr>
      <vt:lpstr>Limitations &amp; Future Work</vt:lpstr>
      <vt:lpstr>Conclusion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SAMI</cp:lastModifiedBy>
  <cp:revision>19</cp:revision>
  <dcterms:created xsi:type="dcterms:W3CDTF">2013-01-27T09:14:16Z</dcterms:created>
  <dcterms:modified xsi:type="dcterms:W3CDTF">2026-03-09T10:23:25Z</dcterms:modified>
  <cp:category/>
</cp:coreProperties>
</file>